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6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7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301" r:id="rId3"/>
    <p:sldId id="349" r:id="rId4"/>
    <p:sldId id="283" r:id="rId5"/>
    <p:sldId id="351" r:id="rId6"/>
    <p:sldId id="305" r:id="rId7"/>
    <p:sldId id="356" r:id="rId8"/>
    <p:sldId id="357" r:id="rId9"/>
    <p:sldId id="358" r:id="rId10"/>
    <p:sldId id="345" r:id="rId11"/>
    <p:sldId id="355" r:id="rId12"/>
    <p:sldId id="30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nayak" initials="v" lastIdx="13" clrIdx="0">
    <p:extLst>
      <p:ext uri="{19B8F6BF-5375-455C-9EA6-DF929625EA0E}">
        <p15:presenceInfo xmlns:p15="http://schemas.microsoft.com/office/powerpoint/2012/main" userId="vinaya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0C8"/>
    <a:srgbClr val="E6E6E6"/>
    <a:srgbClr val="CAE8AA"/>
    <a:srgbClr val="BEE396"/>
    <a:srgbClr val="7CBF33"/>
    <a:srgbClr val="FFEEDD"/>
    <a:srgbClr val="FEB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109" d="100"/>
          <a:sy n="109" d="100"/>
        </p:scale>
        <p:origin x="14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39479-9125-4966-B8FF-988A49BE9300}" type="datetimeFigureOut">
              <a:rPr lang="en-US" smtClean="0"/>
              <a:t>1/15/24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12C81-EC3D-4E29-A33E-54A728F8E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50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B208B-13CA-41BC-BEED-A35E321F7644}" type="datetimeFigureOut">
              <a:rPr lang="en-US" smtClean="0"/>
              <a:t>1/15/24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78808-0F9F-4F32-83AA-193B6757D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1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657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78808-0F9F-4F32-83AA-193B6757D8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78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78808-0F9F-4F32-83AA-193B6757D8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919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316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986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152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901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7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696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4F34F9-F9B8-45B5-B52C-3FFE2C016DA5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31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0A441-B736-4CEB-8BE3-9DBD92F14918}" type="datetime1">
              <a:rPr lang="en-US" smtClean="0"/>
              <a:t>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8FA2-DEB0-4FE6-B9C2-E432F3B00933}" type="datetime1">
              <a:rPr lang="en-US" smtClean="0"/>
              <a:t>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2DDA8-426B-4199-B692-FA55E00C14E0}" type="datetime1">
              <a:rPr lang="en-US" smtClean="0"/>
              <a:t>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3501-102C-4D96-A20F-6539349A4B4A}" type="datetime1">
              <a:rPr lang="en-US" smtClean="0"/>
              <a:t>1/15/24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1C4A-4CD2-4860-82C2-F2F0898BB523}" type="datetime1">
              <a:rPr lang="en-US" smtClean="0"/>
              <a:t>1/15/24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39F4-D4F8-4E48-8450-24C3EEB81FDE}" type="datetime1">
              <a:rPr lang="en-US" smtClean="0"/>
              <a:t>1/15/24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44E4-0678-4D5A-B2ED-37E409B74207}" type="datetime1">
              <a:rPr lang="en-US" smtClean="0"/>
              <a:t>1/15/24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D35B-4571-449F-A845-D5680EAC2747}" type="datetime1">
              <a:rPr lang="en-US" smtClean="0"/>
              <a:t>1/15/24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CDCA9-3E9B-4CF5-A449-7BB0A7A707C1}" type="datetime1">
              <a:rPr lang="en-US" smtClean="0"/>
              <a:t>1/15/24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55E9-42FF-42F1-B10A-68C5665F8B5A}" type="datetime1">
              <a:rPr lang="en-US" smtClean="0"/>
              <a:t>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7694-14C8-4B5A-BC7B-08D3A5AEDD1B}" type="datetime1">
              <a:rPr lang="en-US" smtClean="0"/>
              <a:t>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5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17504"/>
      </p:ext>
    </p:extLst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  <a:lvl2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2pPr>
            <a:lvl3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3pPr>
            <a:lvl4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4pPr>
            <a:lvl5pPr>
              <a:defRPr lang="en-US" sz="20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lang="es-ES" sz="16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s-ES" sz="1600" kern="12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5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7649"/>
      </p:ext>
    </p:extLst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48871"/>
      </p:ext>
    </p:extLst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05680"/>
      </p:ext>
    </p:extLst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9091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14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16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15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6115"/>
            <a:ext cx="8229600" cy="78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59DF8C20-FD34-4897-8F3C-10CB74DB31B7}" type="datetime1">
              <a:rPr lang="en-US" smtClean="0"/>
              <a:t>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  <p:custDataLst>
              <p:tags r:id="rId9"/>
            </p:custDataLst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  <p:custDataLst>
              <p:tags r:id="rId10"/>
            </p:custDataLst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1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28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push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lang="es-ES" sz="4400" dirty="0" smtClean="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3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4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5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image" Target="../media/image6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hdphoto" Target="../media/hdphoto2.wdp"/><Relationship Id="rId3" Type="http://schemas.openxmlformats.org/officeDocument/2006/relationships/tags" Target="../tags/tag54.xml"/><Relationship Id="rId7" Type="http://schemas.openxmlformats.org/officeDocument/2006/relationships/image" Target="../media/image8.svg"/><Relationship Id="rId12" Type="http://schemas.openxmlformats.org/officeDocument/2006/relationships/image" Target="../media/image12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4" Type="http://schemas.openxmlformats.org/officeDocument/2006/relationships/tags" Target="../tags/tag55.xml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0" y="5791200"/>
            <a:ext cx="3156758" cy="469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3386141" y="5791200"/>
            <a:ext cx="2371719" cy="469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9" name="Rectangle 8"/>
          <p:cNvSpPr/>
          <p:nvPr>
            <p:custDataLst>
              <p:tags r:id="rId3"/>
            </p:custDataLst>
          </p:nvPr>
        </p:nvSpPr>
        <p:spPr>
          <a:xfrm>
            <a:off x="5987242" y="5791200"/>
            <a:ext cx="3156758" cy="4692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69B4DB-897F-428E-99EC-A4064FACEDB5}"/>
              </a:ext>
            </a:extLst>
          </p:cNvPr>
          <p:cNvSpPr/>
          <p:nvPr/>
        </p:nvSpPr>
        <p:spPr>
          <a:xfrm>
            <a:off x="0" y="-27384"/>
            <a:ext cx="9144000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7EEC1-FCC3-4109-8907-5A5F6A9EF0E2}"/>
              </a:ext>
            </a:extLst>
          </p:cNvPr>
          <p:cNvSpPr txBox="1"/>
          <p:nvPr/>
        </p:nvSpPr>
        <p:spPr>
          <a:xfrm>
            <a:off x="101622" y="2057400"/>
            <a:ext cx="88137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  <a:latin typeface="+mj-lt"/>
              </a:rPr>
              <a:t>Capstone Project 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</a:rPr>
              <a:t>(Background and Objectives)</a:t>
            </a:r>
            <a:r>
              <a:rPr lang="en-IN" sz="54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35C99-9572-4F87-BDD7-6F02D82470E9}"/>
              </a:ext>
            </a:extLst>
          </p:cNvPr>
          <p:cNvSpPr txBox="1"/>
          <p:nvPr/>
        </p:nvSpPr>
        <p:spPr>
          <a:xfrm>
            <a:off x="457200" y="4078069"/>
            <a:ext cx="8458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j-lt"/>
              </a:rPr>
              <a:t>HR Analytics: To develop scientific method of understanding factors that lead to Attrition in an organization</a:t>
            </a:r>
          </a:p>
        </p:txBody>
      </p:sp>
    </p:spTree>
    <p:extLst>
      <p:ext uri="{BB962C8B-B14F-4D97-AF65-F5344CB8AC3E}">
        <p14:creationId xmlns:p14="http://schemas.microsoft.com/office/powerpoint/2010/main" val="250337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A1576-6C21-4CF0-BD16-55B8C4918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E7636A-7054-45E5-98A3-39B9C169EB30}"/>
              </a:ext>
            </a:extLst>
          </p:cNvPr>
          <p:cNvSpPr txBox="1">
            <a:spLocks/>
          </p:cNvSpPr>
          <p:nvPr/>
        </p:nvSpPr>
        <p:spPr bwMode="auto">
          <a:xfrm>
            <a:off x="457200" y="207457"/>
            <a:ext cx="8229600" cy="78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2900" b="1" kern="0" dirty="0">
                <a:solidFill>
                  <a:schemeClr val="accent1"/>
                </a:solidFill>
                <a:latin typeface="+mj-lt"/>
              </a:rPr>
              <a:t>Background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ED49D5-472F-4321-9EF2-A93B3937344B}"/>
              </a:ext>
            </a:extLst>
          </p:cNvPr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D7951B-615C-4FEF-8551-F05CA0F11C7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077548-3388-4723-923F-8D5A3D53196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FE2DF8-6118-464E-8CB7-AC633FEE657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939B065-F25E-46E3-B1DC-F6A09086DCCB}"/>
              </a:ext>
            </a:extLst>
          </p:cNvPr>
          <p:cNvSpPr/>
          <p:nvPr/>
        </p:nvSpPr>
        <p:spPr>
          <a:xfrm>
            <a:off x="140903" y="1295400"/>
            <a:ext cx="9003097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</a:t>
            </a: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healthcare R&amp;D organization </a:t>
            </a:r>
          </a:p>
          <a:p>
            <a:pPr fontAlgn="base">
              <a:spcAft>
                <a:spcPct val="0"/>
              </a:spcAft>
            </a:pPr>
            <a:endParaRPr lang="en-US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 startAt="2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Background</a:t>
            </a: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company 1470 employees . Over the last year , The HR team has collected and consolidated information through various sources ( like survey , appraisal report, salary structure  etc. ) about each employee </a:t>
            </a:r>
          </a:p>
          <a:p>
            <a:pPr fontAlgn="base">
              <a:spcAft>
                <a:spcPct val="0"/>
              </a:spcAft>
            </a:pPr>
            <a:endParaRPr lang="en-US" sz="1600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2A9406-9BA3-412F-8608-6B7B21721E54}"/>
              </a:ext>
            </a:extLst>
          </p:cNvPr>
          <p:cNvSpPr/>
          <p:nvPr/>
        </p:nvSpPr>
        <p:spPr>
          <a:xfrm>
            <a:off x="140903" y="3276600"/>
            <a:ext cx="88621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company wants to understand what parameters impact the attrition in the organization and how can they make the work place a more conducive environment</a:t>
            </a:r>
          </a:p>
          <a:p>
            <a:pPr fontAlgn="base">
              <a:spcAft>
                <a:spcPct val="0"/>
              </a:spcAft>
            </a:pPr>
            <a:endParaRPr lang="en-US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fontAlgn="base">
              <a:spcAft>
                <a:spcPct val="0"/>
              </a:spcAft>
            </a:pPr>
            <a:endParaRPr lang="en-US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620B366-FB15-4876-90AF-A434734C4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r="2221"/>
          <a:stretch/>
        </p:blipFill>
        <p:spPr>
          <a:xfrm>
            <a:off x="4958748" y="3962401"/>
            <a:ext cx="4185251" cy="2895600"/>
          </a:xfrm>
        </p:spPr>
      </p:pic>
    </p:spTree>
    <p:extLst>
      <p:ext uri="{BB962C8B-B14F-4D97-AF65-F5344CB8AC3E}">
        <p14:creationId xmlns:p14="http://schemas.microsoft.com/office/powerpoint/2010/main" val="124176435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5" name="Rectangle 4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BBF1D24-B7A1-4395-961C-C2199D7D7C20}"/>
              </a:ext>
            </a:extLst>
          </p:cNvPr>
          <p:cNvSpPr txBox="1">
            <a:spLocks/>
          </p:cNvSpPr>
          <p:nvPr/>
        </p:nvSpPr>
        <p:spPr bwMode="auto">
          <a:xfrm>
            <a:off x="457200" y="207457"/>
            <a:ext cx="8229600" cy="78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2900" b="1" ker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dirty="0"/>
              <a:t>Background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7F46DCCB-0BE6-4E22-B5B9-299BF8DA4AE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" y="3429000"/>
            <a:ext cx="5294668" cy="47329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 startAt="3"/>
            </a:pPr>
            <a:endParaRPr lang="en-US" sz="1800" b="1" kern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C7218-D7E3-45AD-9C1A-949990A60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385439"/>
            <a:ext cx="8839200" cy="4525963"/>
          </a:xfrm>
        </p:spPr>
        <p:txBody>
          <a:bodyPr/>
          <a:lstStyle/>
          <a:p>
            <a:pPr marL="228600" indent="-228600" fontAlgn="base">
              <a:lnSpc>
                <a:spcPct val="100000"/>
              </a:lnSpc>
              <a:spcAft>
                <a:spcPct val="0"/>
              </a:spcAft>
              <a:buFont typeface="+mj-lt"/>
              <a:buAutoNum type="arabicPeriod" startAt="3"/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 </a:t>
            </a:r>
          </a:p>
          <a:p>
            <a:pPr marL="400050" lvl="1" indent="0" fontAlgn="base">
              <a:lnSpc>
                <a:spcPct val="100000"/>
              </a:lnSpc>
              <a:spcAft>
                <a:spcPct val="0"/>
              </a:spcAft>
              <a:buNone/>
            </a:pPr>
            <a:endParaRPr lang="en-US" sz="1800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85800" lvl="1" fontAlgn="base">
              <a:lnSpc>
                <a:spcPct val="100000"/>
              </a:lnSpc>
              <a:spcAft>
                <a:spcPct val="0"/>
              </a:spcAft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analyze attrition and correlate with other factors</a:t>
            </a:r>
          </a:p>
          <a:p>
            <a:pPr marL="685800" lvl="1" fontAlgn="base">
              <a:lnSpc>
                <a:spcPct val="100000"/>
              </a:lnSpc>
              <a:spcAft>
                <a:spcPct val="0"/>
              </a:spcAft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develop employee attrition model</a:t>
            </a:r>
          </a:p>
          <a:p>
            <a:pPr marL="685800" lvl="1" fontAlgn="base">
              <a:lnSpc>
                <a:spcPct val="100000"/>
              </a:lnSpc>
              <a:spcAft>
                <a:spcPct val="0"/>
              </a:spcAft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analyze employee sentiments</a:t>
            </a:r>
          </a:p>
          <a:p>
            <a:pPr marL="685800" lvl="1" fontAlgn="base">
              <a:lnSpc>
                <a:spcPct val="100000"/>
              </a:lnSpc>
              <a:spcAft>
                <a:spcPct val="0"/>
              </a:spcAft>
            </a:pPr>
            <a:r>
              <a:rPr lang="en-US" sz="1800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Optional- Develop web application using R Shiny</a:t>
            </a:r>
          </a:p>
          <a:p>
            <a:pPr marL="400050" lvl="1" indent="0" fontAlgn="base">
              <a:lnSpc>
                <a:spcPct val="100000"/>
              </a:lnSpc>
              <a:spcAft>
                <a:spcPct val="0"/>
              </a:spcAft>
              <a:buNone/>
            </a:pP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5" name="Content Placeholder 16">
            <a:extLst>
              <a:ext uri="{FF2B5EF4-FFF2-40B4-BE49-F238E27FC236}">
                <a16:creationId xmlns:a16="http://schemas.microsoft.com/office/drawing/2014/main" id="{74FA563E-8F02-4D39-BC3B-9A862075606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r="2221"/>
          <a:stretch/>
        </p:blipFill>
        <p:spPr>
          <a:xfrm>
            <a:off x="4958748" y="3962401"/>
            <a:ext cx="4185251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2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5" name="Rectangle 4"/>
            <p:cNvSpPr/>
            <p:nvPr>
              <p:custDataLst>
                <p:tags r:id="rId1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>
              <p:custDataLst>
                <p:tags r:id="rId2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>
              <p:custDataLst>
                <p:tags r:id="rId3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BBF1D24-B7A1-4395-961C-C2199D7D7C20}"/>
              </a:ext>
            </a:extLst>
          </p:cNvPr>
          <p:cNvSpPr txBox="1">
            <a:spLocks/>
          </p:cNvSpPr>
          <p:nvPr/>
        </p:nvSpPr>
        <p:spPr bwMode="auto">
          <a:xfrm>
            <a:off x="457200" y="207457"/>
            <a:ext cx="8229600" cy="78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2900" b="1" kern="0" dirty="0">
                <a:solidFill>
                  <a:schemeClr val="accent1"/>
                </a:solidFill>
                <a:latin typeface="+mj-lt"/>
              </a:rPr>
              <a:t>Background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855EE-3E97-4E89-997D-B24D19F54E16}"/>
              </a:ext>
            </a:extLst>
          </p:cNvPr>
          <p:cNvSpPr txBox="1"/>
          <p:nvPr/>
        </p:nvSpPr>
        <p:spPr>
          <a:xfrm>
            <a:off x="76200" y="1573908"/>
            <a:ext cx="9067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Data </a:t>
            </a: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data used for the same is the employee data as on 31</a:t>
            </a:r>
            <a:r>
              <a:rPr lang="en-US" b="1" kern="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</a:t>
            </a: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Dec ’2022  </a:t>
            </a:r>
          </a:p>
          <a:p>
            <a:pPr fontAlgn="base">
              <a:spcAft>
                <a:spcPct val="0"/>
              </a:spcAft>
            </a:pPr>
            <a:endParaRPr lang="en-US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data available is the following :</a:t>
            </a:r>
          </a:p>
          <a:p>
            <a:pPr marL="342900" indent="-342900" fontAlgn="base"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Employee Attrition </a:t>
            </a:r>
          </a:p>
          <a:p>
            <a:pPr marL="342900" indent="-342900" fontAlgn="base"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Employee Demographics </a:t>
            </a:r>
          </a:p>
          <a:p>
            <a:pPr marL="342900" indent="-342900" fontAlgn="base"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Employee Income </a:t>
            </a:r>
          </a:p>
          <a:p>
            <a:pPr marL="342900" indent="-342900" fontAlgn="base"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Employee Job details </a:t>
            </a:r>
          </a:p>
          <a:p>
            <a:pPr marL="342900" indent="-342900" fontAlgn="base">
              <a:spcAft>
                <a:spcPct val="0"/>
              </a:spcAft>
              <a:buAutoNum type="arabicPeriod"/>
            </a:pPr>
            <a:r>
              <a: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Exit Interview Responses </a:t>
            </a:r>
          </a:p>
          <a:p>
            <a:endParaRPr lang="en-IN" dirty="0"/>
          </a:p>
        </p:txBody>
      </p:sp>
      <p:pic>
        <p:nvPicPr>
          <p:cNvPr id="15" name="Content Placeholder 16">
            <a:extLst>
              <a:ext uri="{FF2B5EF4-FFF2-40B4-BE49-F238E27FC236}">
                <a16:creationId xmlns:a16="http://schemas.microsoft.com/office/drawing/2014/main" id="{F0B86920-EFE3-4604-8FD6-7D95A4A2D18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r="2221"/>
          <a:stretch/>
        </p:blipFill>
        <p:spPr>
          <a:xfrm>
            <a:off x="4958748" y="3962401"/>
            <a:ext cx="4185251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2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Employee Attrition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45012" y="1371601"/>
            <a:ext cx="8822787" cy="1066800"/>
            <a:chOff x="762000" y="2322459"/>
            <a:chExt cx="7315200" cy="1287523"/>
          </a:xfrm>
        </p:grpSpPr>
        <p:sp>
          <p:nvSpPr>
            <p:cNvPr id="6" name="Freeform 5"/>
            <p:cNvSpPr/>
            <p:nvPr/>
          </p:nvSpPr>
          <p:spPr>
            <a:xfrm>
              <a:off x="762000" y="2575679"/>
              <a:ext cx="7315200" cy="1034303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is mainly to understand whether the Employee has resigned or not anytime in the year 2022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F5A0D-FD5D-438C-901C-DD48C33AD2D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62" t="754" r="2326"/>
          <a:stretch/>
        </p:blipFill>
        <p:spPr>
          <a:xfrm>
            <a:off x="1409700" y="2667000"/>
            <a:ext cx="6324600" cy="37687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9C3482A-B5A3-494D-A8C6-840448DFA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47714"/>
              </p:ext>
            </p:extLst>
          </p:nvPr>
        </p:nvGraphicFramePr>
        <p:xfrm>
          <a:off x="686151" y="5381043"/>
          <a:ext cx="8153400" cy="134043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21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8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3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Columns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Description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Type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Measurement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Possible values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EmpID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Employee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numeric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Attrition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whether he has resigned anytime in the year ‘19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Factor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Yes, No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Department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Department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Sales , HR , R&amp;D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21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Employee Demographics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45012" y="1371601"/>
            <a:ext cx="8822787" cy="810806"/>
            <a:chOff x="762000" y="2322459"/>
            <a:chExt cx="7315200" cy="1064025"/>
          </a:xfrm>
        </p:grpSpPr>
        <p:sp>
          <p:nvSpPr>
            <p:cNvPr id="6" name="Freeform 5"/>
            <p:cNvSpPr/>
            <p:nvPr/>
          </p:nvSpPr>
          <p:spPr>
            <a:xfrm>
              <a:off x="762000" y="2575679"/>
              <a:ext cx="7315200" cy="810805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is mainly about the demographic factors of the employee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38B178-B038-4A44-B111-354B324E4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362200"/>
            <a:ext cx="7543800" cy="37147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72ECE90-5634-4B16-BFDF-4967BBF1F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891721"/>
              </p:ext>
            </p:extLst>
          </p:nvPr>
        </p:nvGraphicFramePr>
        <p:xfrm>
          <a:off x="493069" y="3534020"/>
          <a:ext cx="8326672" cy="3187455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55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1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Columns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Description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Measurement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Possible values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 of the employee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0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DistanceFromHome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Distance from home in kms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0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Score based on level of education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ordinal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'Below College'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'College'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'Bachelor'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'Master'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'Doctor'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1,2,3,4,5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Educationfield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Field of Education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0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Male, Female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MaritalStatus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Marital Status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, Divorced , Married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000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5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Employee Income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45012" y="1371600"/>
            <a:ext cx="8822787" cy="1295400"/>
            <a:chOff x="762000" y="2322459"/>
            <a:chExt cx="7315200" cy="1604258"/>
          </a:xfrm>
        </p:grpSpPr>
        <p:sp>
          <p:nvSpPr>
            <p:cNvPr id="6" name="Freeform 5"/>
            <p:cNvSpPr/>
            <p:nvPr/>
          </p:nvSpPr>
          <p:spPr>
            <a:xfrm>
              <a:off x="762000" y="2575678"/>
              <a:ext cx="7315200" cy="1351039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is mainly to understand his income components  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420C14-F733-4FB0-B1E6-A97C18B1E5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475" y="2828925"/>
            <a:ext cx="6486525" cy="36480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DA26BAE-3D5A-4260-88D8-05AA37C6E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982263"/>
              </p:ext>
            </p:extLst>
          </p:nvPr>
        </p:nvGraphicFramePr>
        <p:xfrm>
          <a:off x="493069" y="3882143"/>
          <a:ext cx="8326672" cy="2818628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55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1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Columns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Description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Measurement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Possible values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StandardHours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Minimum no of hours to be spent at work in a month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Since all are full time employees , 200 is the std hours across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4833352"/>
                  </a:ext>
                </a:extLst>
              </a:tr>
              <a:tr h="3720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HourlyRate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much does the employee make per hour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0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MonthlyIncome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 Income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PercentSalaryHike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Field of Education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StockOption Level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of stocks as a part of compensation benefits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0- none 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 </a:t>
                      </a:r>
                      <a:r>
                        <a:rPr lang="en-US" sz="1200" b="0" i="0" u="sng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2-21-40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3-&gt;40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0,1,2,3,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000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84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1235"/>
            <a:ext cx="8229600" cy="810805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sz="2900" kern="0" dirty="0">
                <a:solidFill>
                  <a:schemeClr val="accent1"/>
                </a:solidFill>
              </a:rPr>
              <a:t>Data : Employee Job Details </a:t>
            </a:r>
            <a:endParaRPr lang="en-US" sz="2900" kern="0" dirty="0">
              <a:solidFill>
                <a:schemeClr val="accent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sp>
        <p:nvSpPr>
          <p:cNvPr id="7" name="Freeform 6"/>
          <p:cNvSpPr/>
          <p:nvPr/>
        </p:nvSpPr>
        <p:spPr>
          <a:xfrm>
            <a:off x="686151" y="1371600"/>
            <a:ext cx="2227108" cy="420742"/>
          </a:xfrm>
          <a:custGeom>
            <a:avLst/>
            <a:gdLst>
              <a:gd name="connsiteX0" fmla="*/ 0 w 1846553"/>
              <a:gd name="connsiteY0" fmla="*/ 70125 h 420742"/>
              <a:gd name="connsiteX1" fmla="*/ 70125 w 1846553"/>
              <a:gd name="connsiteY1" fmla="*/ 0 h 420742"/>
              <a:gd name="connsiteX2" fmla="*/ 1776428 w 1846553"/>
              <a:gd name="connsiteY2" fmla="*/ 0 h 420742"/>
              <a:gd name="connsiteX3" fmla="*/ 1846553 w 1846553"/>
              <a:gd name="connsiteY3" fmla="*/ 70125 h 420742"/>
              <a:gd name="connsiteX4" fmla="*/ 1846553 w 1846553"/>
              <a:gd name="connsiteY4" fmla="*/ 350617 h 420742"/>
              <a:gd name="connsiteX5" fmla="*/ 1776428 w 1846553"/>
              <a:gd name="connsiteY5" fmla="*/ 420742 h 420742"/>
              <a:gd name="connsiteX6" fmla="*/ 70125 w 1846553"/>
              <a:gd name="connsiteY6" fmla="*/ 420742 h 420742"/>
              <a:gd name="connsiteX7" fmla="*/ 0 w 1846553"/>
              <a:gd name="connsiteY7" fmla="*/ 350617 h 420742"/>
              <a:gd name="connsiteX8" fmla="*/ 0 w 1846553"/>
              <a:gd name="connsiteY8" fmla="*/ 70125 h 420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6553" h="420742">
                <a:moveTo>
                  <a:pt x="0" y="70125"/>
                </a:moveTo>
                <a:cubicBezTo>
                  <a:pt x="0" y="31396"/>
                  <a:pt x="31396" y="0"/>
                  <a:pt x="70125" y="0"/>
                </a:cubicBezTo>
                <a:lnTo>
                  <a:pt x="1776428" y="0"/>
                </a:lnTo>
                <a:cubicBezTo>
                  <a:pt x="1815157" y="0"/>
                  <a:pt x="1846553" y="31396"/>
                  <a:pt x="1846553" y="70125"/>
                </a:cubicBezTo>
                <a:lnTo>
                  <a:pt x="1846553" y="350617"/>
                </a:lnTo>
                <a:cubicBezTo>
                  <a:pt x="1846553" y="389346"/>
                  <a:pt x="1815157" y="420742"/>
                  <a:pt x="1776428" y="420742"/>
                </a:cubicBezTo>
                <a:lnTo>
                  <a:pt x="70125" y="420742"/>
                </a:lnTo>
                <a:cubicBezTo>
                  <a:pt x="31396" y="420742"/>
                  <a:pt x="0" y="389346"/>
                  <a:pt x="0" y="350617"/>
                </a:cubicBezTo>
                <a:lnTo>
                  <a:pt x="0" y="7012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087" tIns="20539" rIns="214087" bIns="20539" numCol="1" spcCol="1270" anchor="ctr" anchorCtr="0"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t>Content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BFDAB6-8CC0-4596-B6E5-827260CE07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2789519"/>
            <a:ext cx="8822787" cy="23920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3DBA936-5F3E-4138-B883-D17C8A114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826582"/>
              </p:ext>
            </p:extLst>
          </p:nvPr>
        </p:nvGraphicFramePr>
        <p:xfrm>
          <a:off x="533400" y="2610194"/>
          <a:ext cx="8326672" cy="4249485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655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1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Columns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Description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Measurement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Possible values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EmpID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Employee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numeric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BusinesTravel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Does the employee need to travel for work : Never , Rarely  or Frequently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Non-Travel, Travel_Rarely, Travel_Frequently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JobLevel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Level of Job.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Ordinal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=lowest  ;5-highest</a:t>
                      </a:r>
                    </a:p>
                    <a:p>
                      <a:pPr marL="0" algn="ctr" defTabSz="914400" rtl="0" eaLnBrk="1" fontAlgn="b" latinLnBrk="0" hangingPunct="1"/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1,2,3,4,5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05062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JobRole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Job Role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Jobsatisfaction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1=Low; 2=Medium; 3=High; 4=Very High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1,2,3,4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25955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NumCompaniesworked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 of Companies worked previously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PerformanceRating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1=Low; 2=Good ;3=Excellent;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4=Outstanding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1,2,3,4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Overtime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If the person has worked over 250 </a:t>
                      </a: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hrs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in the month, OT= Yes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Factor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Yes,No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47927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TotalWorkingYears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Total years of Experience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Trainings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 of Training programs attended 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000454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WorkLifeBalance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Rating based on a survey conducted for work life balance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Ordinal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1=Bad; 2=Good; 3=Better; 4=Best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1,2,3,4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9617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YearsAtCompany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 of year spent in the current </a:t>
                      </a: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organzation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619888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YearsatCurrentRole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 of years in the current role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Integer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15116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YearssinceLastPromotion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 of years since the last promotion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Integer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81758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YearsWithCurrManager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No of years with current manager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Integer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7365975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E695D995-6CF2-4236-9CC8-D4B12768867C}"/>
              </a:ext>
            </a:extLst>
          </p:cNvPr>
          <p:cNvGrpSpPr/>
          <p:nvPr/>
        </p:nvGrpSpPr>
        <p:grpSpPr>
          <a:xfrm>
            <a:off x="245012" y="1371600"/>
            <a:ext cx="8822787" cy="1066800"/>
            <a:chOff x="762000" y="2322459"/>
            <a:chExt cx="7315200" cy="1238594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D4C07877-CE0F-4E33-A198-96919D3F4BB4}"/>
                </a:ext>
              </a:extLst>
            </p:cNvPr>
            <p:cNvSpPr/>
            <p:nvPr/>
          </p:nvSpPr>
          <p:spPr>
            <a:xfrm>
              <a:off x="762000" y="2575678"/>
              <a:ext cx="7315200" cy="985375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This data is mainly to understand his job details .  </a:t>
              </a:r>
              <a:endPara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586039B5-AE6E-443A-A2DC-E712ACF8C8BC}"/>
                </a:ext>
              </a:extLst>
            </p:cNvPr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363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991225" y="1115831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Ebrima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Ebrima"/>
              <a:ea typeface="+mn-ea"/>
              <a:cs typeface="Ari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8A6A11-532A-453A-A4FB-D195CD172D12}"/>
              </a:ext>
            </a:extLst>
          </p:cNvPr>
          <p:cNvGrpSpPr/>
          <p:nvPr/>
        </p:nvGrpSpPr>
        <p:grpSpPr>
          <a:xfrm>
            <a:off x="245012" y="1371600"/>
            <a:ext cx="8822787" cy="1371599"/>
            <a:chOff x="762000" y="2322459"/>
            <a:chExt cx="7315200" cy="1371599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B77D24EE-69CC-4309-8BBE-CC2CDE938C70}"/>
                </a:ext>
              </a:extLst>
            </p:cNvPr>
            <p:cNvSpPr/>
            <p:nvPr/>
          </p:nvSpPr>
          <p:spPr>
            <a:xfrm>
              <a:off x="762000" y="2575679"/>
              <a:ext cx="7315200" cy="1118379"/>
            </a:xfrm>
            <a:custGeom>
              <a:avLst/>
              <a:gdLst>
                <a:gd name="connsiteX0" fmla="*/ 0 w 7315200"/>
                <a:gd name="connsiteY0" fmla="*/ 0 h 750269"/>
                <a:gd name="connsiteX1" fmla="*/ 7315200 w 7315200"/>
                <a:gd name="connsiteY1" fmla="*/ 0 h 750269"/>
                <a:gd name="connsiteX2" fmla="*/ 7315200 w 7315200"/>
                <a:gd name="connsiteY2" fmla="*/ 750269 h 750269"/>
                <a:gd name="connsiteX3" fmla="*/ 0 w 7315200"/>
                <a:gd name="connsiteY3" fmla="*/ 750269 h 750269"/>
                <a:gd name="connsiteX4" fmla="*/ 0 w 7315200"/>
                <a:gd name="connsiteY4" fmla="*/ 0 h 750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15200" h="750269">
                  <a:moveTo>
                    <a:pt x="0" y="0"/>
                  </a:moveTo>
                  <a:lnTo>
                    <a:pt x="7315200" y="0"/>
                  </a:lnTo>
                  <a:lnTo>
                    <a:pt x="7315200" y="750269"/>
                  </a:lnTo>
                  <a:lnTo>
                    <a:pt x="0" y="75026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67741" tIns="249936" rIns="567741" bIns="113792" numCol="1" spcCol="1270" anchor="t" anchorCtr="0">
              <a:noAutofit/>
            </a:bodyPr>
            <a:lstStyle/>
            <a:p>
              <a:pPr marL="0" lvl="1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The response captured for the question “What is the main reason for your resignation ? You can be completely honest as this response is anonymous</a:t>
              </a:r>
            </a:p>
            <a:p>
              <a:pPr marL="0" lvl="1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defRPr/>
              </a:pPr>
              <a:r>
                <a:rPr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Sample Size : 50</a:t>
              </a:r>
            </a:p>
            <a:p>
              <a:pPr marL="0" lvl="1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defRPr/>
              </a:pP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1DB41F8A-8F31-40AC-8E17-5D044FD9574A}"/>
                </a:ext>
              </a:extLst>
            </p:cNvPr>
            <p:cNvSpPr/>
            <p:nvPr/>
          </p:nvSpPr>
          <p:spPr>
            <a:xfrm>
              <a:off x="1127760" y="2322459"/>
              <a:ext cx="1846553" cy="420742"/>
            </a:xfrm>
            <a:custGeom>
              <a:avLst/>
              <a:gdLst>
                <a:gd name="connsiteX0" fmla="*/ 0 w 1846553"/>
                <a:gd name="connsiteY0" fmla="*/ 70125 h 420742"/>
                <a:gd name="connsiteX1" fmla="*/ 70125 w 1846553"/>
                <a:gd name="connsiteY1" fmla="*/ 0 h 420742"/>
                <a:gd name="connsiteX2" fmla="*/ 1776428 w 1846553"/>
                <a:gd name="connsiteY2" fmla="*/ 0 h 420742"/>
                <a:gd name="connsiteX3" fmla="*/ 1846553 w 1846553"/>
                <a:gd name="connsiteY3" fmla="*/ 70125 h 420742"/>
                <a:gd name="connsiteX4" fmla="*/ 1846553 w 1846553"/>
                <a:gd name="connsiteY4" fmla="*/ 350617 h 420742"/>
                <a:gd name="connsiteX5" fmla="*/ 1776428 w 1846553"/>
                <a:gd name="connsiteY5" fmla="*/ 420742 h 420742"/>
                <a:gd name="connsiteX6" fmla="*/ 70125 w 1846553"/>
                <a:gd name="connsiteY6" fmla="*/ 420742 h 420742"/>
                <a:gd name="connsiteX7" fmla="*/ 0 w 1846553"/>
                <a:gd name="connsiteY7" fmla="*/ 350617 h 420742"/>
                <a:gd name="connsiteX8" fmla="*/ 0 w 1846553"/>
                <a:gd name="connsiteY8" fmla="*/ 70125 h 42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6553" h="420742">
                  <a:moveTo>
                    <a:pt x="0" y="70125"/>
                  </a:moveTo>
                  <a:cubicBezTo>
                    <a:pt x="0" y="31396"/>
                    <a:pt x="31396" y="0"/>
                    <a:pt x="70125" y="0"/>
                  </a:cubicBezTo>
                  <a:lnTo>
                    <a:pt x="1776428" y="0"/>
                  </a:lnTo>
                  <a:cubicBezTo>
                    <a:pt x="1815157" y="0"/>
                    <a:pt x="1846553" y="31396"/>
                    <a:pt x="1846553" y="70125"/>
                  </a:cubicBezTo>
                  <a:lnTo>
                    <a:pt x="1846553" y="350617"/>
                  </a:lnTo>
                  <a:cubicBezTo>
                    <a:pt x="1846553" y="389346"/>
                    <a:pt x="1815157" y="420742"/>
                    <a:pt x="1776428" y="420742"/>
                  </a:cubicBezTo>
                  <a:lnTo>
                    <a:pt x="70125" y="420742"/>
                  </a:lnTo>
                  <a:cubicBezTo>
                    <a:pt x="31396" y="420742"/>
                    <a:pt x="0" y="389346"/>
                    <a:pt x="0" y="350617"/>
                  </a:cubicBezTo>
                  <a:lnTo>
                    <a:pt x="0" y="7012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087" tIns="20539" rIns="214087" bIns="20539" numCol="1" spcCol="1270" anchor="ctr" anchorCtr="0">
              <a:no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brima"/>
                  <a:ea typeface="+mn-ea"/>
                  <a:cs typeface="Arial"/>
                </a:rPr>
                <a:t>Content</a:t>
              </a:r>
            </a:p>
          </p:txBody>
        </p:sp>
      </p:grpSp>
      <p:sp>
        <p:nvSpPr>
          <p:cNvPr id="29" name="Rectangle 2">
            <a:extLst>
              <a:ext uri="{FF2B5EF4-FFF2-40B4-BE49-F238E27FC236}">
                <a16:creationId xmlns:a16="http://schemas.microsoft.com/office/drawing/2014/main" id="{37BDC538-F8AA-4266-B008-0E7BF7BC40D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246786"/>
            <a:ext cx="8229600" cy="810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IN" sz="3000" kern="0" dirty="0">
                <a:solidFill>
                  <a:schemeClr val="accent1"/>
                </a:solidFill>
              </a:rPr>
              <a:t>Data : </a:t>
            </a:r>
            <a:r>
              <a:rPr lang="en-US" sz="3000" kern="0" dirty="0">
                <a:solidFill>
                  <a:schemeClr val="accent1"/>
                </a:solidFill>
              </a:rPr>
              <a:t>Exit interview responses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59AFD6-F748-43BE-AB25-A23FB680B5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11" y="3310428"/>
            <a:ext cx="8822787" cy="26331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3D3984A-5BB3-4EFD-B39B-60A4D300A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63229"/>
              </p:ext>
            </p:extLst>
          </p:nvPr>
        </p:nvGraphicFramePr>
        <p:xfrm>
          <a:off x="5105400" y="5523853"/>
          <a:ext cx="3810000" cy="64517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406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3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Description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Type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Consumer Responses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88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19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B8B0C54-EA26-4776-AC5A-C0530184DFC4}"/>
              </a:ext>
            </a:extLst>
          </p:cNvPr>
          <p:cNvCxnSpPr/>
          <p:nvPr/>
        </p:nvCxnSpPr>
        <p:spPr>
          <a:xfrm>
            <a:off x="7753271" y="2474452"/>
            <a:ext cx="0" cy="560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Shape 127">
            <a:extLst>
              <a:ext uri="{FF2B5EF4-FFF2-40B4-BE49-F238E27FC236}">
                <a16:creationId xmlns:a16="http://schemas.microsoft.com/office/drawing/2014/main" id="{D15B3FB7-0BEB-4A88-AFED-5EB0D94A3824}"/>
              </a:ext>
            </a:extLst>
          </p:cNvPr>
          <p:cNvGrpSpPr/>
          <p:nvPr/>
        </p:nvGrpSpPr>
        <p:grpSpPr>
          <a:xfrm>
            <a:off x="7617688" y="2811231"/>
            <a:ext cx="263054" cy="717717"/>
            <a:chOff x="2223534" y="2938958"/>
            <a:chExt cx="198900" cy="593656"/>
          </a:xfrm>
        </p:grpSpPr>
        <p:cxnSp>
          <p:nvCxnSpPr>
            <p:cNvPr id="121" name="Shape 128">
              <a:extLst>
                <a:ext uri="{FF2B5EF4-FFF2-40B4-BE49-F238E27FC236}">
                  <a16:creationId xmlns:a16="http://schemas.microsoft.com/office/drawing/2014/main" id="{4545E432-2495-40B9-8CD6-5A5A92CC0059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" name="Shape 129">
              <a:extLst>
                <a:ext uri="{FF2B5EF4-FFF2-40B4-BE49-F238E27FC236}">
                  <a16:creationId xmlns:a16="http://schemas.microsoft.com/office/drawing/2014/main" id="{AD3C7CC9-8CE1-4703-9D18-6D18F866996B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35D13-2E3D-470E-9959-F0529099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4A8CC3-D89B-47C7-8B8C-CCA7257E0B17}"/>
              </a:ext>
            </a:extLst>
          </p:cNvPr>
          <p:cNvGrpSpPr/>
          <p:nvPr/>
        </p:nvGrpSpPr>
        <p:grpSpPr>
          <a:xfrm>
            <a:off x="650549" y="1582924"/>
            <a:ext cx="1007581" cy="1124666"/>
            <a:chOff x="1220432" y="1752600"/>
            <a:chExt cx="2660373" cy="290761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469ED0-CE12-40A2-A572-98B1E2D14A16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CF712C7-B63B-46C6-A471-8B26582225AD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CCEA769-4BAE-46B2-A577-740C27A77D9B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B604D07-9ECC-48CD-A1A4-0FF4A4F56DE5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9E741C3-0A15-45F0-BBBF-E1D31E402EDE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FBA57EA-B745-4A1B-BB2F-1E7A4D4A12A8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Graphic 25" descr="Research">
            <a:extLst>
              <a:ext uri="{FF2B5EF4-FFF2-40B4-BE49-F238E27FC236}">
                <a16:creationId xmlns:a16="http://schemas.microsoft.com/office/drawing/2014/main" id="{8CCCB306-E767-4CDF-BDB5-CF102E903E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1346" y="1922948"/>
            <a:ext cx="374462" cy="37446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23049DA-BEA9-4E08-BF16-2409CFB35ACE}"/>
              </a:ext>
            </a:extLst>
          </p:cNvPr>
          <p:cNvSpPr txBox="1"/>
          <p:nvPr/>
        </p:nvSpPr>
        <p:spPr>
          <a:xfrm>
            <a:off x="231312" y="1200158"/>
            <a:ext cx="274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Data management</a:t>
            </a:r>
          </a:p>
        </p:txBody>
      </p:sp>
      <p:grpSp>
        <p:nvGrpSpPr>
          <p:cNvPr id="32" name="Shape 127">
            <a:extLst>
              <a:ext uri="{FF2B5EF4-FFF2-40B4-BE49-F238E27FC236}">
                <a16:creationId xmlns:a16="http://schemas.microsoft.com/office/drawing/2014/main" id="{2ED2BEB3-D4FF-4FF9-94A7-1402CB6BFAFE}"/>
              </a:ext>
            </a:extLst>
          </p:cNvPr>
          <p:cNvGrpSpPr/>
          <p:nvPr/>
        </p:nvGrpSpPr>
        <p:grpSpPr>
          <a:xfrm>
            <a:off x="741024" y="2705025"/>
            <a:ext cx="263054" cy="717717"/>
            <a:chOff x="2223534" y="2938958"/>
            <a:chExt cx="198900" cy="593656"/>
          </a:xfrm>
        </p:grpSpPr>
        <p:cxnSp>
          <p:nvCxnSpPr>
            <p:cNvPr id="33" name="Shape 128">
              <a:extLst>
                <a:ext uri="{FF2B5EF4-FFF2-40B4-BE49-F238E27FC236}">
                  <a16:creationId xmlns:a16="http://schemas.microsoft.com/office/drawing/2014/main" id="{1FD97857-B6C0-4BD6-BF9A-1060B8171456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" name="Shape 129">
              <a:extLst>
                <a:ext uri="{FF2B5EF4-FFF2-40B4-BE49-F238E27FC236}">
                  <a16:creationId xmlns:a16="http://schemas.microsoft.com/office/drawing/2014/main" id="{837D5DCC-24F4-4601-A5C1-3E69957AE8DB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5" name="Shape 130">
            <a:extLst>
              <a:ext uri="{FF2B5EF4-FFF2-40B4-BE49-F238E27FC236}">
                <a16:creationId xmlns:a16="http://schemas.microsoft.com/office/drawing/2014/main" id="{1F15962D-F4DB-4B5E-A4FB-816420DA27CC}"/>
              </a:ext>
            </a:extLst>
          </p:cNvPr>
          <p:cNvSpPr txBox="1">
            <a:spLocks/>
          </p:cNvSpPr>
          <p:nvPr/>
        </p:nvSpPr>
        <p:spPr>
          <a:xfrm>
            <a:off x="49161" y="3781601"/>
            <a:ext cx="1804004" cy="2020846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Compile all 4 data files based on Employee ID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Data cleaning , Handling missing values and completing Basic Data checks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Check if any variables needed to be feature coded </a:t>
            </a:r>
            <a:r>
              <a:rPr lang="en-IN" sz="900" dirty="0" err="1">
                <a:latin typeface="Century Gothic" panose="020B0502020202020204" pitchFamily="34" charset="0"/>
              </a:rPr>
              <a:t>i.e</a:t>
            </a:r>
            <a:r>
              <a:rPr lang="en-IN" sz="900" dirty="0">
                <a:latin typeface="Century Gothic" panose="020B0502020202020204" pitchFamily="34" charset="0"/>
              </a:rPr>
              <a:t> made into groups or want to be left as continuous variables </a:t>
            </a:r>
            <a:r>
              <a:rPr lang="en-IN" sz="900" dirty="0" err="1">
                <a:latin typeface="Century Gothic" panose="020B0502020202020204" pitchFamily="34" charset="0"/>
              </a:rPr>
              <a:t>e.g</a:t>
            </a:r>
            <a:r>
              <a:rPr lang="en-IN" sz="900" dirty="0">
                <a:latin typeface="Century Gothic" panose="020B0502020202020204" pitchFamily="34" charset="0"/>
              </a:rPr>
              <a:t> Age</a:t>
            </a:r>
          </a:p>
        </p:txBody>
      </p:sp>
      <p:grpSp>
        <p:nvGrpSpPr>
          <p:cNvPr id="37" name="Shape 127">
            <a:extLst>
              <a:ext uri="{FF2B5EF4-FFF2-40B4-BE49-F238E27FC236}">
                <a16:creationId xmlns:a16="http://schemas.microsoft.com/office/drawing/2014/main" id="{B009AB42-0F93-4083-A70D-B6252FBE2794}"/>
              </a:ext>
            </a:extLst>
          </p:cNvPr>
          <p:cNvGrpSpPr/>
          <p:nvPr/>
        </p:nvGrpSpPr>
        <p:grpSpPr>
          <a:xfrm>
            <a:off x="3168078" y="2891957"/>
            <a:ext cx="263054" cy="717717"/>
            <a:chOff x="2223534" y="2938958"/>
            <a:chExt cx="198900" cy="593656"/>
          </a:xfrm>
        </p:grpSpPr>
        <p:cxnSp>
          <p:nvCxnSpPr>
            <p:cNvPr id="38" name="Shape 128">
              <a:extLst>
                <a:ext uri="{FF2B5EF4-FFF2-40B4-BE49-F238E27FC236}">
                  <a16:creationId xmlns:a16="http://schemas.microsoft.com/office/drawing/2014/main" id="{8B62CAF2-A1D5-4847-91B6-3A7B27FD22CE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Shape 129">
              <a:extLst>
                <a:ext uri="{FF2B5EF4-FFF2-40B4-BE49-F238E27FC236}">
                  <a16:creationId xmlns:a16="http://schemas.microsoft.com/office/drawing/2014/main" id="{BA58017F-FFFD-4D1A-B4F6-6DCE80566A19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E519C1D-4CAA-41A4-AE3B-141F5A06B23F}"/>
              </a:ext>
            </a:extLst>
          </p:cNvPr>
          <p:cNvCxnSpPr>
            <a:cxnSpLocks/>
          </p:cNvCxnSpPr>
          <p:nvPr/>
        </p:nvCxnSpPr>
        <p:spPr>
          <a:xfrm>
            <a:off x="3299605" y="2655404"/>
            <a:ext cx="0" cy="393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D7E1E2F-8E19-4331-A81B-763B274C8FD8}"/>
              </a:ext>
            </a:extLst>
          </p:cNvPr>
          <p:cNvGrpSpPr/>
          <p:nvPr/>
        </p:nvGrpSpPr>
        <p:grpSpPr>
          <a:xfrm>
            <a:off x="1991225" y="1115831"/>
            <a:ext cx="5161551" cy="52403"/>
            <a:chOff x="1991225" y="1155160"/>
            <a:chExt cx="5161551" cy="5240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6548D71-41BC-45EE-B3E2-1D038482930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9917803-55CA-4A22-A571-BDA7D9316CF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F9669BC-B49B-466A-A669-E0BDBC85B78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brima"/>
                <a:ea typeface="+mn-ea"/>
                <a:cs typeface="Arial"/>
              </a:endParaRPr>
            </a:p>
          </p:txBody>
        </p:sp>
      </p:grpSp>
      <p:sp>
        <p:nvSpPr>
          <p:cNvPr id="49" name="Rectangle 2">
            <a:extLst>
              <a:ext uri="{FF2B5EF4-FFF2-40B4-BE49-F238E27FC236}">
                <a16:creationId xmlns:a16="http://schemas.microsoft.com/office/drawing/2014/main" id="{08127BF4-33AF-4063-96EA-D9F57F936B1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246786"/>
            <a:ext cx="8229600" cy="810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IN" sz="3000" kern="0" dirty="0">
                <a:solidFill>
                  <a:schemeClr val="accent1"/>
                </a:solidFill>
              </a:rPr>
              <a:t>Next steps</a:t>
            </a:r>
            <a:endParaRPr lang="en-US" sz="3000" kern="0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980CB5-B1DC-4168-84D7-E37487F2335D}"/>
              </a:ext>
            </a:extLst>
          </p:cNvPr>
          <p:cNvSpPr txBox="1"/>
          <p:nvPr/>
        </p:nvSpPr>
        <p:spPr>
          <a:xfrm>
            <a:off x="2720099" y="1132340"/>
            <a:ext cx="2741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Descriptive Statistics </a:t>
            </a:r>
          </a:p>
          <a:p>
            <a:r>
              <a:rPr lang="en-IN" sz="1200" dirty="0">
                <a:latin typeface="Century Gothic" panose="020B0502020202020204" pitchFamily="34" charset="0"/>
              </a:rPr>
              <a:t>&amp; Data visualization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E26329-20C4-4C11-B22B-C0D7BEB34471}"/>
              </a:ext>
            </a:extLst>
          </p:cNvPr>
          <p:cNvGrpSpPr/>
          <p:nvPr/>
        </p:nvGrpSpPr>
        <p:grpSpPr>
          <a:xfrm>
            <a:off x="3085553" y="1547846"/>
            <a:ext cx="1007581" cy="1124666"/>
            <a:chOff x="1220432" y="1752600"/>
            <a:chExt cx="2660373" cy="2907614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A2FBF6F-FBCF-4E20-9B40-1D320D8C9290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1C26B66-9256-4DF8-BE63-B5FF921C5AD0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07BEE35-8DFF-4960-B88D-8F58BC7C0E94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7FE8D94-CD44-4405-B351-4EE2B5038112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6D7EA43-2D24-4E75-9403-EF623E4A4958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2E05200-43E3-4F4A-94D9-75607137454E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2" name="Graphic 61" descr="Gears">
            <a:extLst>
              <a:ext uri="{FF2B5EF4-FFF2-40B4-BE49-F238E27FC236}">
                <a16:creationId xmlns:a16="http://schemas.microsoft.com/office/drawing/2014/main" id="{6C00ADC4-A897-46FE-A1E1-5540E742379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0186" y="1898704"/>
            <a:ext cx="409729" cy="409729"/>
          </a:xfrm>
          <a:prstGeom prst="rect">
            <a:avLst/>
          </a:prstGeom>
        </p:spPr>
      </p:pic>
      <p:sp>
        <p:nvSpPr>
          <p:cNvPr id="64" name="Shape 130">
            <a:extLst>
              <a:ext uri="{FF2B5EF4-FFF2-40B4-BE49-F238E27FC236}">
                <a16:creationId xmlns:a16="http://schemas.microsoft.com/office/drawing/2014/main" id="{9A355D36-F678-4D6E-A2C4-642E474CE4A0}"/>
              </a:ext>
            </a:extLst>
          </p:cNvPr>
          <p:cNvSpPr txBox="1">
            <a:spLocks/>
          </p:cNvSpPr>
          <p:nvPr/>
        </p:nvSpPr>
        <p:spPr>
          <a:xfrm>
            <a:off x="2512679" y="3639110"/>
            <a:ext cx="1804004" cy="2020846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Understanding the data better like checking attrition rate dept wise ,  is salary playing a role in attrition etc.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How can this data be presented better visually ?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Once again post Data visualization check if any variable needs to be feature coded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5F31C2-C95B-4DC8-873B-0D9A823BA33B}"/>
              </a:ext>
            </a:extLst>
          </p:cNvPr>
          <p:cNvSpPr txBox="1"/>
          <p:nvPr/>
        </p:nvSpPr>
        <p:spPr>
          <a:xfrm>
            <a:off x="4876109" y="1212218"/>
            <a:ext cx="274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Predictive modelling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7120D44-D9C2-420F-B77A-06E60313E7CF}"/>
              </a:ext>
            </a:extLst>
          </p:cNvPr>
          <p:cNvGrpSpPr/>
          <p:nvPr/>
        </p:nvGrpSpPr>
        <p:grpSpPr>
          <a:xfrm>
            <a:off x="5217776" y="1594756"/>
            <a:ext cx="1007581" cy="1124666"/>
            <a:chOff x="1220432" y="1752600"/>
            <a:chExt cx="2660373" cy="290761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B264E7C-8B0A-4CCA-98AB-8752E8F16CCB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A191760E-F742-4FDA-A678-07ADF0CF9E5F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97E65F8-1C1B-4469-A20E-A5A749BD8C50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8778B409-9C64-4226-BAF0-C5529927F6BE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52E3A79-3084-4665-96BD-0A3B8DDD1478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2879C008-88C9-4355-A4C7-5140BEEB17CB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Shape 127">
            <a:extLst>
              <a:ext uri="{FF2B5EF4-FFF2-40B4-BE49-F238E27FC236}">
                <a16:creationId xmlns:a16="http://schemas.microsoft.com/office/drawing/2014/main" id="{9606C498-5661-4277-84EC-E021293F6424}"/>
              </a:ext>
            </a:extLst>
          </p:cNvPr>
          <p:cNvGrpSpPr/>
          <p:nvPr/>
        </p:nvGrpSpPr>
        <p:grpSpPr>
          <a:xfrm>
            <a:off x="5308251" y="2677528"/>
            <a:ext cx="263054" cy="717717"/>
            <a:chOff x="2223534" y="2938958"/>
            <a:chExt cx="198900" cy="593656"/>
          </a:xfrm>
        </p:grpSpPr>
        <p:cxnSp>
          <p:nvCxnSpPr>
            <p:cNvPr id="98" name="Shape 128">
              <a:extLst>
                <a:ext uri="{FF2B5EF4-FFF2-40B4-BE49-F238E27FC236}">
                  <a16:creationId xmlns:a16="http://schemas.microsoft.com/office/drawing/2014/main" id="{6CA841AB-5D9E-4867-B90C-2BA5F0886122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9" name="Shape 129">
              <a:extLst>
                <a:ext uri="{FF2B5EF4-FFF2-40B4-BE49-F238E27FC236}">
                  <a16:creationId xmlns:a16="http://schemas.microsoft.com/office/drawing/2014/main" id="{75BB2C67-33BC-481B-91EB-385FF918E781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16F44452-253B-4B71-B514-6D4A9951B77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4889" y1="30667" x2="64889" y2="30667"/>
                        <a14:foregroundMark x1="71111" y1="37778" x2="71111" y2="37778"/>
                        <a14:foregroundMark x1="65778" y1="41778" x2="65778" y2="41778"/>
                        <a14:foregroundMark x1="61333" y1="44889" x2="61333" y2="44889"/>
                        <a14:foregroundMark x1="59111" y1="49778" x2="59111" y2="49778"/>
                        <a14:foregroundMark x1="52444" y1="55111" x2="52444" y2="55111"/>
                        <a14:foregroundMark x1="61778" y1="52444" x2="61778" y2="52444"/>
                        <a14:foregroundMark x1="62222" y1="57778" x2="62222" y2="57778"/>
                        <a14:foregroundMark x1="62222" y1="65778" x2="62222" y2="65778"/>
                        <a14:foregroundMark x1="62667" y1="72444" x2="62667" y2="72444"/>
                        <a14:foregroundMark x1="55556" y1="73778" x2="55556" y2="73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513" y="1905168"/>
            <a:ext cx="443731" cy="501162"/>
          </a:xfrm>
          <a:prstGeom prst="rect">
            <a:avLst/>
          </a:prstGeom>
        </p:spPr>
      </p:pic>
      <p:sp>
        <p:nvSpPr>
          <p:cNvPr id="104" name="Shape 130">
            <a:extLst>
              <a:ext uri="{FF2B5EF4-FFF2-40B4-BE49-F238E27FC236}">
                <a16:creationId xmlns:a16="http://schemas.microsoft.com/office/drawing/2014/main" id="{B4B8ADCB-F21C-4C89-A344-96F364058BD4}"/>
              </a:ext>
            </a:extLst>
          </p:cNvPr>
          <p:cNvSpPr txBox="1">
            <a:spLocks/>
          </p:cNvSpPr>
          <p:nvPr/>
        </p:nvSpPr>
        <p:spPr>
          <a:xfrm>
            <a:off x="4721706" y="4252821"/>
            <a:ext cx="1983893" cy="2020846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latin typeface="Century Gothic" panose="020B0502020202020204" pitchFamily="34" charset="0"/>
              </a:rPr>
              <a:t>Answer the objectives a) To understand factors to pre-empt which employees who are likely to leave in ’20 b) To identify the parameters that lead to early churn (within 18 months of joining)</a:t>
            </a: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900" dirty="0">
              <a:latin typeface="Century Gothic" panose="020B0502020202020204" pitchFamily="34" charset="0"/>
            </a:endParaRP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latin typeface="Century Gothic" panose="020B0502020202020204" pitchFamily="34" charset="0"/>
              </a:rPr>
              <a:t>Using different Predictive model techniques to find Significant variables</a:t>
            </a: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900" dirty="0">
              <a:latin typeface="Century Gothic" panose="020B0502020202020204" pitchFamily="34" charset="0"/>
            </a:endParaRP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latin typeface="Century Gothic" panose="020B0502020202020204" pitchFamily="34" charset="0"/>
              </a:rPr>
              <a:t>Ensure you follow all steps like Train and test data , checking for  Multicollinearity</a:t>
            </a: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900" dirty="0">
              <a:latin typeface="Century Gothic" panose="020B0502020202020204" pitchFamily="34" charset="0"/>
            </a:endParaRPr>
          </a:p>
          <a:p>
            <a:pPr marL="285750" indent="-285750" fontAlgn="base">
              <a:lnSpc>
                <a:spcPct val="1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latin typeface="Century Gothic" panose="020B0502020202020204" pitchFamily="34" charset="0"/>
              </a:rPr>
              <a:t>Check if any other  ML technique fits better 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B20716E-A325-4D34-A7B0-22FD37D490C6}"/>
              </a:ext>
            </a:extLst>
          </p:cNvPr>
          <p:cNvSpPr txBox="1"/>
          <p:nvPr/>
        </p:nvSpPr>
        <p:spPr>
          <a:xfrm>
            <a:off x="7454889" y="1217682"/>
            <a:ext cx="2741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Century Gothic" panose="020B0502020202020204" pitchFamily="34" charset="0"/>
              </a:rPr>
              <a:t>Text mining 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DB80107-B329-4FB4-9AD4-11317C052DA8}"/>
              </a:ext>
            </a:extLst>
          </p:cNvPr>
          <p:cNvGrpSpPr/>
          <p:nvPr/>
        </p:nvGrpSpPr>
        <p:grpSpPr>
          <a:xfrm>
            <a:off x="7598635" y="1577744"/>
            <a:ext cx="1007581" cy="1124666"/>
            <a:chOff x="1220432" y="1752600"/>
            <a:chExt cx="2660373" cy="2907614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C4E05B2-58A1-451C-AD0D-D571A5A9FB35}"/>
                </a:ext>
              </a:extLst>
            </p:cNvPr>
            <p:cNvSpPr/>
            <p:nvPr/>
          </p:nvSpPr>
          <p:spPr>
            <a:xfrm rot="5400000">
              <a:off x="1569459" y="2278180"/>
              <a:ext cx="2755409" cy="1856458"/>
            </a:xfrm>
            <a:custGeom>
              <a:avLst/>
              <a:gdLst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264094 w 3472683"/>
                <a:gd name="connsiteY3" fmla="*/ 195265 h 2339721"/>
                <a:gd name="connsiteX4" fmla="*/ 1735506 w 3472683"/>
                <a:gd name="connsiteY4" fmla="*/ 0 h 2339721"/>
                <a:gd name="connsiteX5" fmla="*/ 1737177 w 3472683"/>
                <a:gd name="connsiteY5" fmla="*/ 1 h 2339721"/>
                <a:gd name="connsiteX6" fmla="*/ 2208589 w 3472683"/>
                <a:gd name="connsiteY6" fmla="*/ 195266 h 2339721"/>
                <a:gd name="connsiteX7" fmla="*/ 2276970 w 3472683"/>
                <a:gd name="connsiteY7" fmla="*/ 278145 h 2339721"/>
                <a:gd name="connsiteX8" fmla="*/ 3472668 w 3472683"/>
                <a:gd name="connsiteY8" fmla="*/ 2339693 h 2339721"/>
                <a:gd name="connsiteX9" fmla="*/ 3472683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1737177 w 3472683"/>
                <a:gd name="connsiteY4" fmla="*/ 1 h 2339721"/>
                <a:gd name="connsiteX5" fmla="*/ 2208589 w 3472683"/>
                <a:gd name="connsiteY5" fmla="*/ 195266 h 2339721"/>
                <a:gd name="connsiteX6" fmla="*/ 2276970 w 3472683"/>
                <a:gd name="connsiteY6" fmla="*/ 278145 h 2339721"/>
                <a:gd name="connsiteX7" fmla="*/ 3472668 w 3472683"/>
                <a:gd name="connsiteY7" fmla="*/ 2339693 h 2339721"/>
                <a:gd name="connsiteX8" fmla="*/ 3472683 w 3472683"/>
                <a:gd name="connsiteY8" fmla="*/ 2339721 h 2339721"/>
                <a:gd name="connsiteX9" fmla="*/ 0 w 3472683"/>
                <a:gd name="connsiteY9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08589 w 3472683"/>
                <a:gd name="connsiteY4" fmla="*/ 195266 h 2339721"/>
                <a:gd name="connsiteX5" fmla="*/ 2276970 w 3472683"/>
                <a:gd name="connsiteY5" fmla="*/ 278145 h 2339721"/>
                <a:gd name="connsiteX6" fmla="*/ 3472668 w 3472683"/>
                <a:gd name="connsiteY6" fmla="*/ 2339693 h 2339721"/>
                <a:gd name="connsiteX7" fmla="*/ 3472683 w 3472683"/>
                <a:gd name="connsiteY7" fmla="*/ 2339721 h 2339721"/>
                <a:gd name="connsiteX8" fmla="*/ 0 w 3472683"/>
                <a:gd name="connsiteY8" fmla="*/ 2339721 h 2339721"/>
                <a:gd name="connsiteX0" fmla="*/ 0 w 3472683"/>
                <a:gd name="connsiteY0" fmla="*/ 2339721 h 2339721"/>
                <a:gd name="connsiteX1" fmla="*/ 31 w 3472683"/>
                <a:gd name="connsiteY1" fmla="*/ 2339664 h 2339721"/>
                <a:gd name="connsiteX2" fmla="*/ 1195714 w 3472683"/>
                <a:gd name="connsiteY2" fmla="*/ 278142 h 2339721"/>
                <a:gd name="connsiteX3" fmla="*/ 1735506 w 3472683"/>
                <a:gd name="connsiteY3" fmla="*/ 0 h 2339721"/>
                <a:gd name="connsiteX4" fmla="*/ 2276970 w 3472683"/>
                <a:gd name="connsiteY4" fmla="*/ 278145 h 2339721"/>
                <a:gd name="connsiteX5" fmla="*/ 3472668 w 3472683"/>
                <a:gd name="connsiteY5" fmla="*/ 2339693 h 2339721"/>
                <a:gd name="connsiteX6" fmla="*/ 3472683 w 3472683"/>
                <a:gd name="connsiteY6" fmla="*/ 2339721 h 2339721"/>
                <a:gd name="connsiteX7" fmla="*/ 0 w 3472683"/>
                <a:gd name="connsiteY7" fmla="*/ 2339721 h 233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2683" h="2339721">
                  <a:moveTo>
                    <a:pt x="0" y="2339721"/>
                  </a:moveTo>
                  <a:cubicBezTo>
                    <a:pt x="10" y="2339702"/>
                    <a:pt x="21" y="2339683"/>
                    <a:pt x="31" y="2339664"/>
                  </a:cubicBezTo>
                  <a:lnTo>
                    <a:pt x="1195714" y="278142"/>
                  </a:lnTo>
                  <a:lnTo>
                    <a:pt x="1735506" y="0"/>
                  </a:lnTo>
                  <a:lnTo>
                    <a:pt x="2276970" y="278145"/>
                  </a:lnTo>
                  <a:lnTo>
                    <a:pt x="3472668" y="2339693"/>
                  </a:lnTo>
                  <a:cubicBezTo>
                    <a:pt x="3472673" y="2339702"/>
                    <a:pt x="3472678" y="2339712"/>
                    <a:pt x="3472683" y="2339721"/>
                  </a:cubicBezTo>
                  <a:lnTo>
                    <a:pt x="0" y="233972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3AA38D7D-2C9A-426C-A6F9-C0925CD8FBCD}"/>
                </a:ext>
              </a:extLst>
            </p:cNvPr>
            <p:cNvSpPr/>
            <p:nvPr/>
          </p:nvSpPr>
          <p:spPr>
            <a:xfrm>
              <a:off x="1220432" y="1752600"/>
              <a:ext cx="1057952" cy="2907614"/>
            </a:xfrm>
            <a:prstGeom prst="roundRect">
              <a:avLst>
                <a:gd name="adj" fmla="val 50000"/>
              </a:avLst>
            </a:prstGeom>
            <a:solidFill>
              <a:srgbClr val="7CB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6FCA74-BEBD-461C-B40C-C2B623BEF261}"/>
                </a:ext>
              </a:extLst>
            </p:cNvPr>
            <p:cNvSpPr/>
            <p:nvPr/>
          </p:nvSpPr>
          <p:spPr>
            <a:xfrm>
              <a:off x="1960682" y="2259230"/>
              <a:ext cx="317702" cy="1894354"/>
            </a:xfrm>
            <a:custGeom>
              <a:avLst/>
              <a:gdLst>
                <a:gd name="connsiteX0" fmla="*/ 315449 w 317702"/>
                <a:gd name="connsiteY0" fmla="*/ 0 h 1894354"/>
                <a:gd name="connsiteX1" fmla="*/ 317702 w 317702"/>
                <a:gd name="connsiteY1" fmla="*/ 22346 h 1894354"/>
                <a:gd name="connsiteX2" fmla="*/ 317702 w 317702"/>
                <a:gd name="connsiteY2" fmla="*/ 1872008 h 1894354"/>
                <a:gd name="connsiteX3" fmla="*/ 315450 w 317702"/>
                <a:gd name="connsiteY3" fmla="*/ 1894354 h 1894354"/>
                <a:gd name="connsiteX4" fmla="*/ 233221 w 317702"/>
                <a:gd name="connsiteY4" fmla="*/ 1849721 h 1894354"/>
                <a:gd name="connsiteX5" fmla="*/ 0 w 317702"/>
                <a:gd name="connsiteY5" fmla="*/ 1411086 h 1894354"/>
                <a:gd name="connsiteX6" fmla="*/ 0 w 317702"/>
                <a:gd name="connsiteY6" fmla="*/ 483267 h 1894354"/>
                <a:gd name="connsiteX7" fmla="*/ 233221 w 317702"/>
                <a:gd name="connsiteY7" fmla="*/ 44632 h 18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2" h="1894354">
                  <a:moveTo>
                    <a:pt x="315449" y="0"/>
                  </a:moveTo>
                  <a:lnTo>
                    <a:pt x="317702" y="22346"/>
                  </a:lnTo>
                  <a:lnTo>
                    <a:pt x="317702" y="1872008"/>
                  </a:lnTo>
                  <a:lnTo>
                    <a:pt x="315450" y="1894354"/>
                  </a:lnTo>
                  <a:lnTo>
                    <a:pt x="233221" y="1849721"/>
                  </a:lnTo>
                  <a:cubicBezTo>
                    <a:pt x="92512" y="1754660"/>
                    <a:pt x="0" y="1593677"/>
                    <a:pt x="0" y="1411086"/>
                  </a:cubicBezTo>
                  <a:lnTo>
                    <a:pt x="0" y="483267"/>
                  </a:lnTo>
                  <a:cubicBezTo>
                    <a:pt x="0" y="300677"/>
                    <a:pt x="92512" y="139693"/>
                    <a:pt x="233221" y="4463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B450259F-81E2-41DF-95AC-64769A08EB99}"/>
                </a:ext>
              </a:extLst>
            </p:cNvPr>
            <p:cNvSpPr/>
            <p:nvPr/>
          </p:nvSpPr>
          <p:spPr>
            <a:xfrm>
              <a:off x="1963105" y="2210059"/>
              <a:ext cx="1057952" cy="1985771"/>
            </a:xfrm>
            <a:prstGeom prst="roundRect">
              <a:avLst>
                <a:gd name="adj" fmla="val 50000"/>
              </a:avLst>
            </a:prstGeom>
            <a:solidFill>
              <a:srgbClr val="BEE3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AA48C6F-7D20-4C94-A6FF-B6D96D83E5F7}"/>
                </a:ext>
              </a:extLst>
            </p:cNvPr>
            <p:cNvSpPr/>
            <p:nvPr/>
          </p:nvSpPr>
          <p:spPr>
            <a:xfrm>
              <a:off x="2761894" y="2722358"/>
              <a:ext cx="317701" cy="968101"/>
            </a:xfrm>
            <a:custGeom>
              <a:avLst/>
              <a:gdLst>
                <a:gd name="connsiteX0" fmla="*/ 315671 w 317701"/>
                <a:gd name="connsiteY0" fmla="*/ 0 h 968101"/>
                <a:gd name="connsiteX1" fmla="*/ 317701 w 317701"/>
                <a:gd name="connsiteY1" fmla="*/ 20140 h 968101"/>
                <a:gd name="connsiteX2" fmla="*/ 317701 w 317701"/>
                <a:gd name="connsiteY2" fmla="*/ 947959 h 968101"/>
                <a:gd name="connsiteX3" fmla="*/ 315671 w 317701"/>
                <a:gd name="connsiteY3" fmla="*/ 968101 h 968101"/>
                <a:gd name="connsiteX4" fmla="*/ 233221 w 317701"/>
                <a:gd name="connsiteY4" fmla="*/ 923348 h 968101"/>
                <a:gd name="connsiteX5" fmla="*/ 0 w 317701"/>
                <a:gd name="connsiteY5" fmla="*/ 484713 h 968101"/>
                <a:gd name="connsiteX6" fmla="*/ 0 w 317701"/>
                <a:gd name="connsiteY6" fmla="*/ 483387 h 968101"/>
                <a:gd name="connsiteX7" fmla="*/ 233221 w 317701"/>
                <a:gd name="connsiteY7" fmla="*/ 44752 h 96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7701" h="968101">
                  <a:moveTo>
                    <a:pt x="315671" y="0"/>
                  </a:moveTo>
                  <a:lnTo>
                    <a:pt x="317701" y="20140"/>
                  </a:lnTo>
                  <a:lnTo>
                    <a:pt x="317701" y="947959"/>
                  </a:lnTo>
                  <a:lnTo>
                    <a:pt x="315671" y="968101"/>
                  </a:lnTo>
                  <a:lnTo>
                    <a:pt x="233221" y="923348"/>
                  </a:lnTo>
                  <a:cubicBezTo>
                    <a:pt x="92512" y="828287"/>
                    <a:pt x="0" y="667304"/>
                    <a:pt x="0" y="484713"/>
                  </a:cubicBezTo>
                  <a:lnTo>
                    <a:pt x="0" y="483387"/>
                  </a:lnTo>
                  <a:cubicBezTo>
                    <a:pt x="0" y="300797"/>
                    <a:pt x="92512" y="139813"/>
                    <a:pt x="233221" y="44752"/>
                  </a:cubicBez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B056723-80D1-440D-895D-8BEC7807B449}"/>
                </a:ext>
              </a:extLst>
            </p:cNvPr>
            <p:cNvSpPr/>
            <p:nvPr/>
          </p:nvSpPr>
          <p:spPr>
            <a:xfrm>
              <a:off x="2822853" y="2676768"/>
              <a:ext cx="1057952" cy="1059278"/>
            </a:xfrm>
            <a:prstGeom prst="roundRect">
              <a:avLst>
                <a:gd name="adj" fmla="val 50000"/>
              </a:avLst>
            </a:prstGeom>
            <a:solidFill>
              <a:srgbClr val="DDF0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57AA0CF5-AC1E-4FAE-A807-305DAAFE2B6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40714" y1="49081" x2="40714" y2="49081"/>
                        <a14:foregroundMark x1="42857" y1="42857" x2="42857" y2="42857"/>
                        <a14:foregroundMark x1="41905" y1="38331" x2="41905" y2="383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264" y="1962506"/>
            <a:ext cx="495092" cy="416702"/>
          </a:xfrm>
          <a:prstGeom prst="rect">
            <a:avLst/>
          </a:prstGeom>
        </p:spPr>
      </p:pic>
      <p:sp>
        <p:nvSpPr>
          <p:cNvPr id="128" name="Shape 130">
            <a:extLst>
              <a:ext uri="{FF2B5EF4-FFF2-40B4-BE49-F238E27FC236}">
                <a16:creationId xmlns:a16="http://schemas.microsoft.com/office/drawing/2014/main" id="{047CEC2E-4C6D-4D09-8DCB-A2E59A90926B}"/>
              </a:ext>
            </a:extLst>
          </p:cNvPr>
          <p:cNvSpPr txBox="1">
            <a:spLocks/>
          </p:cNvSpPr>
          <p:nvPr/>
        </p:nvSpPr>
        <p:spPr>
          <a:xfrm>
            <a:off x="7067225" y="3744673"/>
            <a:ext cx="1804004" cy="2020846"/>
          </a:xfrm>
          <a:prstGeom prst="rect">
            <a:avLst/>
          </a:prstGeom>
        </p:spPr>
        <p:txBody>
          <a:bodyPr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Understand the employee  responses using  various Text mining Techniques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00" dirty="0">
                <a:latin typeface="Century Gothic" panose="020B0502020202020204" pitchFamily="34" charset="0"/>
              </a:rPr>
              <a:t>Answer the objective:</a:t>
            </a:r>
            <a:r>
              <a:rPr lang="en-US" sz="900" dirty="0">
                <a:latin typeface="Century Gothic" panose="020B0502020202020204" pitchFamily="34" charset="0"/>
              </a:rPr>
              <a:t>To understand the  main reasons for quitting the organization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900" dirty="0">
              <a:latin typeface="Century Gothic" panose="020B0502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IN" sz="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38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ts val="5800"/>
              </a:lnSpc>
            </a:pPr>
            <a:r>
              <a:rPr lang="en-IN" b="1">
                <a:solidFill>
                  <a:srgbClr val="3891A7"/>
                </a:solidFill>
                <a:latin typeface="Ebrima"/>
              </a:rPr>
              <a:t>THANK YOU!</a:t>
            </a:r>
          </a:p>
        </p:txBody>
      </p:sp>
      <p:sp>
        <p:nvSpPr>
          <p:cNvPr id="3" name="Rectangle 2"/>
          <p:cNvSpPr/>
          <p:nvPr>
            <p:custDataLst>
              <p:tags r:id="rId2"/>
            </p:custDataLst>
          </p:nvPr>
        </p:nvSpPr>
        <p:spPr>
          <a:xfrm>
            <a:off x="0" y="5638800"/>
            <a:ext cx="3156758" cy="469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>
            <p:custDataLst>
              <p:tags r:id="rId3"/>
            </p:custDataLst>
          </p:nvPr>
        </p:nvSpPr>
        <p:spPr>
          <a:xfrm>
            <a:off x="3386141" y="5638800"/>
            <a:ext cx="2371719" cy="469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>
            <p:custDataLst>
              <p:tags r:id="rId4"/>
            </p:custDataLst>
          </p:nvPr>
        </p:nvSpPr>
        <p:spPr>
          <a:xfrm>
            <a:off x="5987242" y="5638800"/>
            <a:ext cx="3156758" cy="4692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60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6&quot;/&gt;&lt;lineCharCount val=&quot;17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55&quot;/&gt;&lt;lineCharCount val=&quot;14&quot;/&gt;&lt;lineCharCount val=&quot;13&quot;/&gt;&lt;lineCharCount val=&quot;13&quot;/&gt;&lt;lineCharCount val=&quot;1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DUMMYTAG" val="&lt;DummyForForceWrite&gt;&lt;/DummyForForceWrite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DUMMYTAG" val="&lt;DummyForForceWrite&gt;&lt;/DummyForForceWrite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  <p:tag name="PRESENTER_DUMMYTAG" val="&lt;DummyForForceWrite&gt;&lt;/DummyForForceWrite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1&quot;/&gt;&lt;lineCharCount val=&quot;36&quot;/&gt;&lt;lineCharCount val=&quot;35&quot;/&gt;&lt;lineCharCount val=&quot;49&quot;/&gt;&lt;lineCharCount val=&quot;24&quot;/&gt;&lt;lineCharCount val=&quot;22&quot;/&gt;&lt;lineCharCount val=&quot;21&quot;/&gt;&lt;lineCharCount val=&quot;25&quot;/&gt;&lt;lineCharCount val=&quot;15&quot;/&gt;&lt;lineCharCount val=&quot;19&quot;/&gt;&lt;lineCharCount val=&quot;50&quot;/&gt;&lt;lineCharCount val=&quot;38&quot;/&gt;&lt;/TableIndex&gt;&lt;/ShapeTextInfo&gt;"/>
  <p:tag name="HTML_SHAPEINFO" val="&lt;TextEffect&gt;&lt;Image&gt;&lt;filename val=&quot;C:\Users\Dell\AppData\Local\Temp\CP1156608419281Session\CPTrustFolder1156608419296\PPTImport1156618459906\data\asimages\{CFC6DBA8-E81F-49A2-A168-E8596894BF65}_1.png_crop.png&quot;/&gt;&lt;left val=&quot;60&quot;/&gt;&lt;top val=&quot;202&quot;/&gt;&lt;width val=&quot;496&quot;/&gt;&lt;height val=&quot;26&quot;/&gt;&lt;hasText val=&quot;1&quot;/&gt;&lt;paraId val=&quot;1&quot;/&gt;&lt;/Image&gt;&lt;Image&gt;&lt;filename val=&quot;C:\Users\Dell\AppData\Local\Temp\CP1156608419281Session\CPTrustFolder1156608419296\PPTImport1156618459906\data\asimages\{9DFC37CE-9851-41A3-BD8D-2FF3F9644BBA}_1.png_crop.png&quot;/&gt;&lt;left val=&quot;58&quot;/&gt;&lt;top val=&quot;241&quot;/&gt;&lt;width val=&quot;481&quot;/&gt;&lt;height val=&quot;26&quot;/&gt;&lt;hasText val=&quot;1&quot;/&gt;&lt;paraId val=&quot;2&quot;/&gt;&lt;/Image&gt;&lt;Image&gt;&lt;filename val=&quot;C:\Users\Dell\AppData\Local\Temp\CP1156608419281Session\CPTrustFolder1156608419296\PPTImport1156618459906\data\asimages\{8E79F4C1-4FA0-4323-B95C-DC6BBE1868AC}_1.png_crop.png&quot;/&gt;&lt;left val=&quot;59&quot;/&gt;&lt;top val=&quot;279&quot;/&gt;&lt;width val=&quot;640&quot;/&gt;&lt;height val=&quot;26&quot;/&gt;&lt;hasText val=&quot;1&quot;/&gt;&lt;paraId val=&quot;3&quot;/&gt;&lt;/Image&gt;&lt;Image&gt;&lt;filename val=&quot;C:\Users\Dell\AppData\Local\Temp\CP1156608419281Session\CPTrustFolder1156608419296\PPTImport1156618459906\data\asimages\{95C0BFFA-FBB3-44C6-B0B1-F67E648BDEF8}_1.png_crop.png&quot;/&gt;&lt;left val=&quot;58&quot;/&gt;&lt;top val=&quot;318&quot;/&gt;&lt;width val=&quot;365&quot;/&gt;&lt;height val=&quot;26&quot;/&gt;&lt;hasText val=&quot;1&quot;/&gt;&lt;paraId val=&quot;4&quot;/&gt;&lt;/Image&gt;&lt;Image&gt;&lt;filename val=&quot;C:\Users\Dell\AppData\Local\Temp\CP1156608419281Session\CPTrustFolder1156608419296\PPTImport1156618459906\data\asimages\{2870CD6D-5B0E-4E40-AACF-60E2CCE5EC78}_1.png_crop.png&quot;/&gt;&lt;left val=&quot;59&quot;/&gt;&lt;top val=&quot;356&quot;/&gt;&lt;width val=&quot;344&quot;/&gt;&lt;height val=&quot;26&quot;/&gt;&lt;hasText val=&quot;1&quot;/&gt;&lt;paraId val=&quot;5&quot;/&gt;&lt;/Image&gt;&lt;Image&gt;&lt;filename val=&quot;C:\Users\Dell\AppData\Local\Temp\CP1156608419281Session\CPTrustFolder1156608419296\PPTImport1156618459906\data\asimages\{D144240A-BBA1-452D-B902-1735F474A11D}_1.png_crop.png&quot;/&gt;&lt;left val=&quot;107&quot;/&gt;&lt;top val=&quot;395&quot;/&gt;&lt;width val=&quot;346&quot;/&gt;&lt;height val=&quot;20&quot;/&gt;&lt;hasText val=&quot;1&quot;/&gt;&lt;paraId val=&quot;6&quot;/&gt;&lt;/Image&gt;&lt;Image&gt;&lt;filename val=&quot;C:\Users\Dell\AppData\Local\Temp\CP1156608419281Session\CPTrustFolder1156608419296\PPTImport1156618459906\data\asimages\{5FB53B1E-BC00-4F66-BFC7-44868F3124BE}_1.png_crop.png&quot;/&gt;&lt;left val=&quot;107&quot;/&gt;&lt;top val=&quot;433&quot;/&gt;&lt;width val=&quot;360&quot;/&gt;&lt;height val=&quot;26&quot;/&gt;&lt;hasText val=&quot;1&quot;/&gt;&lt;paraId val=&quot;7&quot;/&gt;&lt;/Image&gt;&lt;Image&gt;&lt;filename val=&quot;C:\Users\Dell\AppData\Local\Temp\CP1156608419281Session\CPTrustFolder1156608419296\PPTImport1156618459906\data\asimages\{B8EC738B-D835-4E1E-86E1-EFEAF1B7BAAF}_1.png_crop.png&quot;/&gt;&lt;left val=&quot;58&quot;/&gt;&lt;top val=&quot;472&quot;/&gt;&lt;width val=&quot;226&quot;/&gt;&lt;height val=&quot;26&quot;/&gt;&lt;hasText val=&quot;1&quot;/&gt;&lt;paraId val=&quot;8&quot;/&gt;&lt;/Image&gt;&lt;Image&gt;&lt;filename val=&quot;C:\Users\Dell\AppData\Local\Temp\CP1156608419281Session\CPTrustFolder1156608419296\PPTImport1156618459906\data\asimages\{E19C5118-5576-4D24-8819-E749D6A42079}_1.png_crop.png&quot;/&gt;&lt;left val=&quot;58&quot;/&gt;&lt;top val=&quot;510&quot;/&gt;&lt;width val=&quot;270&quot;/&gt;&lt;height val=&quot;26&quot;/&gt;&lt;hasText val=&quot;1&quot;/&gt;&lt;paraId val=&quot;9&quot;/&gt;&lt;/Image&gt;&lt;Image&gt;&lt;filename val=&quot;C:\Users\Dell\AppData\Local\Temp\CP1156608419281Session\CPTrustFolder1156608419296\PPTImport1156618459906\data\asimages\{C84B10C7-A1A3-45C7-9912-59DD2A542925}_1.png_crop.png&quot;/&gt;&lt;left val=&quot;58&quot;/&gt;&lt;top val=&quot;548&quot;/&gt;&lt;width val=&quot;646&quot;/&gt;&lt;height val=&quot;26&quot;/&gt;&lt;hasText val=&quot;1&quot;/&gt;&lt;paraId val=&quot;10&quot;/&gt;&lt;/Image&gt;&lt;Image&gt;&lt;filename val=&quot;C:\Users\Dell\AppData\Local\Temp\CP1156608419281Session\CPTrustFolder1156608419296\PPTImport1156618459906\data\asimages\{857948DE-408B-4C88-9074-E1750F8DC216}_1.png_crop.png&quot;/&gt;&lt;left val=&quot;58&quot;/&gt;&lt;top val=&quot;587&quot;/&gt;&lt;width val=&quot;545&quot;/&gt;&lt;height val=&quot;26&quot;/&gt;&lt;hasText val=&quot;1&quot;/&gt;&lt;paraId val=&quot;11&quot;/&gt;&lt;/Image&gt;&lt;/TextEffect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96817CEE-D698-44D8-A7D7-00DA56FBD461}&quot;/&gt;&lt;isInvalidForFieldText val=&quot;0&quot;/&gt;&lt;Image&gt;&lt;filename val=&quot;C:\Users\Dell\AppData\Local\Temp\CP1156608419281Session\CPTrustFolder1156608419296\PPTImport1156618459906\data\asimages\{96817CEE-D698-44D8-A7D7-00DA56FBD461}_8.png&quot;/&gt;&lt;left val=&quot;48&quot;/&gt;&lt;top val=&quot;28&quot;/&gt;&lt;width val=&quot;865&quot;/&gt;&lt;height val=&quot;95&quot;/&gt;&lt;hasText val=&quot;1&quot;/&gt;&lt;/Image&gt;&lt;/ThreeDShape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6DB62BF1-FE9A-4A5E-B50F-B5018FD65EB7}&quot;/&gt;&lt;isInvalidForFieldText val=&quot;0&quot;/&gt;&lt;Image&gt;&lt;filename val=&quot;C:\Users\Dell\AppData\Local\Temp\CP1156608419281Session\CPTrustFolder1156608419296\PPTImport1156618459906\data\asimages\{6DB62BF1-FE9A-4A5E-B50F-B5018FD65EB7}_23.png&quot;/&gt;&lt;left val=&quot;72&quot;/&gt;&lt;top val=&quot;224&quot;/&gt;&lt;width val=&quot;817&quot;/&gt;&lt;height val=&quot;155&quot;/&gt;&lt;hasText val=&quot;1&quot;/&gt;&lt;/Image&gt;&lt;/ThreeDShape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Office Theme">
  <a:themeElements>
    <a:clrScheme name="AA">
      <a:dk1>
        <a:sysClr val="windowText" lastClr="000000"/>
      </a:dk1>
      <a:lt1>
        <a:sysClr val="window" lastClr="FFFFFF"/>
      </a:lt1>
      <a:dk2>
        <a:srgbClr val="663300"/>
      </a:dk2>
      <a:lt2>
        <a:srgbClr val="EEECE1"/>
      </a:lt2>
      <a:accent1>
        <a:srgbClr val="3891A7"/>
      </a:accent1>
      <a:accent2>
        <a:srgbClr val="FEB80A"/>
      </a:accent2>
      <a:accent3>
        <a:srgbClr val="C32D2E"/>
      </a:accent3>
      <a:accent4>
        <a:srgbClr val="92D050"/>
      </a:accent4>
      <a:accent5>
        <a:srgbClr val="663300"/>
      </a:accent5>
      <a:accent6>
        <a:srgbClr val="475A8D"/>
      </a:accent6>
      <a:hlink>
        <a:srgbClr val="0000FF"/>
      </a:hlink>
      <a:folHlink>
        <a:srgbClr val="800080"/>
      </a:folHlink>
    </a:clrScheme>
    <a:fontScheme name="AA Trial 1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iseño predeterminado">
  <a:themeElements>
    <a:clrScheme name="AA">
      <a:dk1>
        <a:sysClr val="windowText" lastClr="000000"/>
      </a:dk1>
      <a:lt1>
        <a:sysClr val="window" lastClr="FFFFFF"/>
      </a:lt1>
      <a:dk2>
        <a:srgbClr val="663300"/>
      </a:dk2>
      <a:lt2>
        <a:srgbClr val="EEECE1"/>
      </a:lt2>
      <a:accent1>
        <a:srgbClr val="3891A7"/>
      </a:accent1>
      <a:accent2>
        <a:srgbClr val="FEB80A"/>
      </a:accent2>
      <a:accent3>
        <a:srgbClr val="C32D2E"/>
      </a:accent3>
      <a:accent4>
        <a:srgbClr val="92D050"/>
      </a:accent4>
      <a:accent5>
        <a:srgbClr val="663300"/>
      </a:accent5>
      <a:accent6>
        <a:srgbClr val="475A8D"/>
      </a:accent6>
      <a:hlink>
        <a:srgbClr val="0000FF"/>
      </a:hlink>
      <a:folHlink>
        <a:srgbClr val="800080"/>
      </a:folHlink>
    </a:clrScheme>
    <a:fontScheme name="AA Trial 1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14702</TotalTime>
  <Words>903</Words>
  <Application>Microsoft Macintosh PowerPoint</Application>
  <PresentationFormat>On-screen Show (4:3)</PresentationFormat>
  <Paragraphs>277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Gothic</vt:lpstr>
      <vt:lpstr>Ebrima</vt:lpstr>
      <vt:lpstr>Eras Demi ITC</vt:lpstr>
      <vt:lpstr>Wingdings</vt:lpstr>
      <vt:lpstr>Office Theme</vt:lpstr>
      <vt:lpstr>1_Diseño predeterminado</vt:lpstr>
      <vt:lpstr>PowerPoint Presentation</vt:lpstr>
      <vt:lpstr>PowerPoint Presentation</vt:lpstr>
      <vt:lpstr>PowerPoint Presentation</vt:lpstr>
      <vt:lpstr>PowerPoint Presentation</vt:lpstr>
      <vt:lpstr>Data : Employee Attrition</vt:lpstr>
      <vt:lpstr>Data : Employee Demographics</vt:lpstr>
      <vt:lpstr>Data : Employee Income</vt:lpstr>
      <vt:lpstr>Data : Employee Job Details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</dc:title>
  <dc:creator>Dell</dc:creator>
  <cp:lastModifiedBy>Vinayak Deshpande</cp:lastModifiedBy>
  <cp:revision>550</cp:revision>
  <dcterms:created xsi:type="dcterms:W3CDTF">2006-08-16T00:00:00Z</dcterms:created>
  <dcterms:modified xsi:type="dcterms:W3CDTF">2024-01-15T17:41:19Z</dcterms:modified>
</cp:coreProperties>
</file>